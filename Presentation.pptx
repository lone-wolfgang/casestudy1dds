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59" r:id="rId4"/>
    <p:sldId id="258" r:id="rId5"/>
    <p:sldId id="263" r:id="rId6"/>
    <p:sldId id="272" r:id="rId7"/>
    <p:sldId id="273" r:id="rId8"/>
    <p:sldId id="274" r:id="rId9"/>
    <p:sldId id="275" r:id="rId10"/>
    <p:sldId id="277" r:id="rId11"/>
    <p:sldId id="286" r:id="rId12"/>
    <p:sldId id="276" r:id="rId13"/>
    <p:sldId id="278" r:id="rId14"/>
    <p:sldId id="280" r:id="rId15"/>
    <p:sldId id="284" r:id="rId16"/>
    <p:sldId id="282" r:id="rId17"/>
    <p:sldId id="285" r:id="rId18"/>
  </p:sldIdLst>
  <p:sldSz cx="12192000" cy="6858000"/>
  <p:notesSz cx="6858000" cy="9144000"/>
  <p:defaultTextStyle>
    <a:defPPr>
      <a:defRPr lang="en-M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7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27"/>
    <p:restoredTop sz="94629"/>
  </p:normalViewPr>
  <p:slideViewPr>
    <p:cSldViewPr snapToGrid="0">
      <p:cViewPr varScale="1">
        <p:scale>
          <a:sx n="88" d="100"/>
          <a:sy n="88" d="100"/>
        </p:scale>
        <p:origin x="200" y="2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0D8E6-5581-894E-98DB-644FEC3EB881}" type="datetimeFigureOut">
              <a:rPr lang="en-MT" smtClean="0"/>
              <a:t>26/10/2025</a:t>
            </a:fld>
            <a:endParaRPr lang="en-M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3C6EE-D4B0-9B4B-A283-348602912FD8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967839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132BF-80B2-90BB-1336-91848BBA2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BC14D7-35BA-175A-B342-EC6FB18E3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337F80-2B3C-E1FD-6EA9-E8691AB82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2691C-3F0D-E4DA-2CD3-27DC92870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3C6EE-D4B0-9B4B-A283-348602912FD8}" type="slidenum">
              <a:rPr lang="en-MT" smtClean="0"/>
              <a:t>11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200336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3C6EE-D4B0-9B4B-A283-348602912FD8}" type="slidenum">
              <a:rPr lang="en-MT" smtClean="0"/>
              <a:t>12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349360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3C6EE-D4B0-9B4B-A283-348602912FD8}" type="slidenum">
              <a:rPr lang="en-MT" smtClean="0"/>
              <a:t>14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6979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5CD0B-DF1D-60A3-16EA-C45A1A56B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A04595-1657-DFA8-13F8-E41F50313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080FD-5D58-D4C2-5F3D-FF30A6027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48EC3-A719-4A4D-9337-3FD5D00AB7D5}" type="datetimeFigureOut">
              <a:rPr lang="en-MT" smtClean="0"/>
              <a:t>26/10/2025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DE8E9-7AB1-88FB-A05C-508FD365C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D788D-F3F6-C963-8AB2-17BD60E77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BD06F-2F76-F64D-ADFD-55F52426226C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110858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16D1-D182-DF6C-3594-5BBC89817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395AA-6DAF-7938-928C-4D260993B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71E84-BB4E-0081-97CA-F0916982A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48EC3-A719-4A4D-9337-3FD5D00AB7D5}" type="datetimeFigureOut">
              <a:rPr lang="en-MT" smtClean="0"/>
              <a:t>26/10/2025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5436D-F4FE-97CA-9228-769A1E90F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51E3C-9833-6509-D4A1-A157BBD1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BD06F-2F76-F64D-ADFD-55F52426226C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901014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A05A9-F10C-17CB-34D9-6B593FA76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F58A7-D396-A744-F548-0D25FF7A3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4D7D3-2D69-ADA5-3500-1FB2A7A6D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48EC3-A719-4A4D-9337-3FD5D00AB7D5}" type="datetimeFigureOut">
              <a:rPr lang="en-MT" smtClean="0"/>
              <a:t>26/10/2025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266A1-EF2D-8431-5842-748EF15FA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ECE1A-A49E-ECB3-5D0F-89071DA3B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BD06F-2F76-F64D-ADFD-55F52426226C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727079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B9211-1137-1A04-F4F4-C58D790DF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DAF92-B4A3-6348-AED1-CFCF36F9A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64C12-30DE-A509-0949-83C4E2DAB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336CC-239D-2181-B8EA-E6DB40024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48EC3-A719-4A4D-9337-3FD5D00AB7D5}" type="datetimeFigureOut">
              <a:rPr lang="en-MT" smtClean="0"/>
              <a:t>26/10/2025</a:t>
            </a:fld>
            <a:endParaRPr lang="en-M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22134-98AA-7994-1F25-C759C54DF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8F0AE-2C8F-EFAA-1AAE-E3E48896D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BD06F-2F76-F64D-ADFD-55F52426226C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48989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26C8E-94BB-4914-AFA1-856461AB4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EAEE9-E7E0-F55F-21F1-15AEFC5E4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EDB7F-43D5-DA5D-41CE-58874BA31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2D91D-8032-4540-7BDC-0D95B8D28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27137A-334F-BA3B-B1F5-AA43726A4A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31D79B-085C-0ED1-35A8-9F9C878A5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48EC3-A719-4A4D-9337-3FD5D00AB7D5}" type="datetimeFigureOut">
              <a:rPr lang="en-MT" smtClean="0"/>
              <a:t>26/10/2025</a:t>
            </a:fld>
            <a:endParaRPr lang="en-M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6F85F6-CFEC-2E40-4642-F3626908C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376EB2-FCDF-871F-0E1C-EA5F41220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BD06F-2F76-F64D-ADFD-55F52426226C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38538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47BC8-A924-8744-546E-5A2EAE62B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564AFF-EA1C-026A-6AE6-0B3045139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48EC3-A719-4A4D-9337-3FD5D00AB7D5}" type="datetimeFigureOut">
              <a:rPr lang="en-MT" smtClean="0"/>
              <a:t>26/10/2025</a:t>
            </a:fld>
            <a:endParaRPr lang="en-M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3F5A0A-B49F-C382-828A-F9AD084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2AE8A7-431D-BD52-8D1E-61CD09354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BD06F-2F76-F64D-ADFD-55F52426226C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1722563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62EB1A-B372-CE3D-D08A-D5BFDD925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48EC3-A719-4A4D-9337-3FD5D00AB7D5}" type="datetimeFigureOut">
              <a:rPr lang="en-MT" smtClean="0"/>
              <a:t>26/10/2025</a:t>
            </a:fld>
            <a:endParaRPr lang="en-M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652D3A-A409-0767-DC60-42A4A8A70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E55A4-C342-D998-41F4-12CE28FD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BD06F-2F76-F64D-ADFD-55F52426226C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111729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5FB2-B48C-9765-D9C7-C98A8ACE2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9400F-36AE-3179-248E-D45233323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9BA1F-A643-A883-1A8B-5889AFE47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F2475-7E0D-AAB1-5194-48C34FD93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48EC3-A719-4A4D-9337-3FD5D00AB7D5}" type="datetimeFigureOut">
              <a:rPr lang="en-MT" smtClean="0"/>
              <a:t>26/10/2025</a:t>
            </a:fld>
            <a:endParaRPr lang="en-M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62BD4-C25E-1386-4720-34295E147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F4824-46D0-4F81-426C-27AE2C892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BD06F-2F76-F64D-ADFD-55F52426226C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67878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B13E2-FD7A-2B05-05EC-326F70202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024294-C6EA-2B0D-B471-B1322243A8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6BB297-E0AD-895C-4F06-D009250B6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DAEAC-E790-2E1D-84D9-A4D2364DC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48EC3-A719-4A4D-9337-3FD5D00AB7D5}" type="datetimeFigureOut">
              <a:rPr lang="en-MT" smtClean="0"/>
              <a:t>26/10/2025</a:t>
            </a:fld>
            <a:endParaRPr lang="en-M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E9EE6-ED5D-71D1-A79A-E1BB9CF4D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D1F68-ECBE-CF63-3FA5-FD002A3F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BD06F-2F76-F64D-ADFD-55F52426226C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870428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16A40-FD2D-E8D9-3802-706DE391F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AD02B4-4D83-B2EE-6635-99F90A21A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AF71C-F06C-6DD1-E668-3D4626E2B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48EC3-A719-4A4D-9337-3FD5D00AB7D5}" type="datetimeFigureOut">
              <a:rPr lang="en-MT" smtClean="0"/>
              <a:t>26/10/2025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BC346-AB3A-E988-B9D8-31269D2F8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764E4-9C9A-42C1-954A-342A5C7C3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BD06F-2F76-F64D-ADFD-55F52426226C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700624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84E8C6-62DA-DA14-1C6E-C1BE14613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25E74-7B05-918A-F094-62998C1E0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5C89A-5354-48F2-FA0E-DBBFBAD11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48EC3-A719-4A4D-9337-3FD5D00AB7D5}" type="datetimeFigureOut">
              <a:rPr lang="en-MT" smtClean="0"/>
              <a:t>26/10/2025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4B540-E59D-5768-A616-6BAA605C4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FBDE3-0362-CE77-1574-6B37F8CE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BD06F-2F76-F64D-ADFD-55F52426226C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4092349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B3C041-DDA4-7900-F206-BC42C45D8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0D7FF-B063-D9CA-4713-5D4C2E8E6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7E097-2C57-ADA4-1F48-55166E7838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148EC3-A719-4A4D-9337-3FD5D00AB7D5}" type="datetimeFigureOut">
              <a:rPr lang="en-MT" smtClean="0"/>
              <a:t>26/10/2025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5AE15-51D0-8727-690D-FB568DC44D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C5516-EF28-847C-2A5D-623E79F088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FBD06F-2F76-F64D-ADFD-55F52426226C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1040134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417FB-2B92-7549-B6F5-03E1011D37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T" dirty="0"/>
              <a:t>Attrition at Frito-Lay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F4DBAD-F08A-EA06-748D-BE641683C7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T" dirty="0"/>
              <a:t>Jordan Wolfgang Klein</a:t>
            </a:r>
          </a:p>
        </p:txBody>
      </p:sp>
    </p:spTree>
    <p:extLst>
      <p:ext uri="{BB962C8B-B14F-4D97-AF65-F5344CB8AC3E}">
        <p14:creationId xmlns:p14="http://schemas.microsoft.com/office/powerpoint/2010/main" val="2883057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2AEE1-8158-89AF-CAAE-AC2D8611E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6DE6D-7DB8-6CDE-9422-35EF95483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 dirty="0"/>
              <a:t>Goals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1AC557-EAD7-D7C9-DE7E-584B508BB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Objectives</a:t>
            </a:r>
          </a:p>
          <a:p>
            <a:pPr marL="0" indent="0">
              <a:buNone/>
            </a:pPr>
            <a:r>
              <a:rPr lang="en-GB" dirty="0"/>
              <a:t>This analysis aims to:</a:t>
            </a:r>
          </a:p>
          <a:p>
            <a:r>
              <a:rPr lang="en-GB" b="1" dirty="0"/>
              <a:t>Explore</a:t>
            </a:r>
            <a:r>
              <a:rPr lang="en-GB" dirty="0"/>
              <a:t> the data to identify key drivers of employee turnover.</a:t>
            </a:r>
          </a:p>
          <a:p>
            <a:r>
              <a:rPr lang="en-GB" b="1" dirty="0"/>
              <a:t>Develop</a:t>
            </a:r>
            <a:r>
              <a:rPr lang="en-GB" dirty="0"/>
              <a:t> a predictive models to identify employees at risk of leaving.</a:t>
            </a:r>
          </a:p>
          <a:p>
            <a:r>
              <a:rPr lang="en-GB" b="1" dirty="0"/>
              <a:t>Recommend</a:t>
            </a:r>
            <a:r>
              <a:rPr lang="en-GB" dirty="0"/>
              <a:t> targeted interventions that reduce attrition and generate a measurable return on investment.</a:t>
            </a:r>
          </a:p>
        </p:txBody>
      </p:sp>
    </p:spTree>
    <p:extLst>
      <p:ext uri="{BB962C8B-B14F-4D97-AF65-F5344CB8AC3E}">
        <p14:creationId xmlns:p14="http://schemas.microsoft.com/office/powerpoint/2010/main" val="187691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9AFF-C037-CC60-E90D-08A448E92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D77E4-EA96-72A4-1344-D761FC450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 dirty="0"/>
              <a:t>What is the cost of attrition?</a:t>
            </a:r>
          </a:p>
        </p:txBody>
      </p:sp>
      <p:pic>
        <p:nvPicPr>
          <p:cNvPr id="13" name="Picture 12" descr="A pie chart with a red circle and a blue circle with white text&#10;&#10;AI-generated content may be incorrect.">
            <a:extLst>
              <a:ext uri="{FF2B5EF4-FFF2-40B4-BE49-F238E27FC236}">
                <a16:creationId xmlns:a16="http://schemas.microsoft.com/office/drawing/2014/main" id="{984FF3B3-E7C3-E97D-5532-59B3AB483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40000"/>
            <a:ext cx="5399903" cy="539990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A81F28-4EE6-765A-62FF-BE272FF79EE9}"/>
                  </a:ext>
                </a:extLst>
              </p:cNvPr>
              <p:cNvSpPr txBox="1"/>
              <p:nvPr/>
            </p:nvSpPr>
            <p:spPr>
              <a:xfrm>
                <a:off x="5135671" y="1828800"/>
                <a:ext cx="6096621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MT" sz="2000" dirty="0"/>
              </a:p>
              <a:p>
                <a:endParaRPr lang="en-MT" sz="2000" dirty="0"/>
              </a:p>
              <a:p>
                <a:r>
                  <a:rPr lang="en-MT" sz="2000" dirty="0"/>
                  <a:t>For this Analysis:</a:t>
                </a:r>
              </a:p>
              <a:p>
                <a:endParaRPr lang="en-MT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𝐶𝑜𝑠𝑡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𝐴𝑡𝑡𝑟𝑖𝑡𝑖𝑜𝑛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𝐴𝑛𝑛𝑢𝑎𝑙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𝑆𝑎𝑙𝑎𝑟𝑦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US" sz="2000" b="0" dirty="0"/>
              </a:p>
              <a:p>
                <a:endParaRPr lang="en-MT" sz="2000" dirty="0"/>
              </a:p>
              <a:p>
                <a:r>
                  <a:rPr lang="en-MT" sz="2000" dirty="0"/>
                  <a:t>The cost of attrition of  employee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MT" sz="2000" dirty="0"/>
                  <a:t> is approximately equal to their annual salary.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A81F28-4EE6-765A-62FF-BE272FF79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671" y="1828800"/>
                <a:ext cx="6096621" cy="2554545"/>
              </a:xfrm>
              <a:prstGeom prst="rect">
                <a:avLst/>
              </a:prstGeom>
              <a:blipFill>
                <a:blip r:embed="rId4"/>
                <a:stretch>
                  <a:fillRect l="-1040" b="-2970"/>
                </a:stretch>
              </a:blipFill>
            </p:spPr>
            <p:txBody>
              <a:bodyPr/>
              <a:lstStyle/>
              <a:p>
                <a:r>
                  <a:rPr lang="en-MT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0257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D202C-1470-B2C5-3860-8A735AC4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 dirty="0"/>
              <a:t>What is the cost of attrition?</a:t>
            </a:r>
          </a:p>
        </p:txBody>
      </p:sp>
      <p:pic>
        <p:nvPicPr>
          <p:cNvPr id="13" name="Picture 12" descr="A pie chart with a red circle and a blue circle with white text&#10;&#10;AI-generated content may be incorrect.">
            <a:extLst>
              <a:ext uri="{FF2B5EF4-FFF2-40B4-BE49-F238E27FC236}">
                <a16:creationId xmlns:a16="http://schemas.microsoft.com/office/drawing/2014/main" id="{4BD65863-7BF7-D6F8-5BDD-A6BD203C6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40000"/>
            <a:ext cx="5399903" cy="5399903"/>
          </a:xfrm>
          <a:prstGeom prst="rect">
            <a:avLst/>
          </a:prstGeom>
        </p:spPr>
      </p:pic>
      <p:pic>
        <p:nvPicPr>
          <p:cNvPr id="17" name="Picture 16" descr="A screenshot of a phone&#10;&#10;AI-generated content may be incorrect.">
            <a:extLst>
              <a:ext uri="{FF2B5EF4-FFF2-40B4-BE49-F238E27FC236}">
                <a16:creationId xmlns:a16="http://schemas.microsoft.com/office/drawing/2014/main" id="{47122D5B-E152-B948-0A1E-E81739327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487" y="1623076"/>
            <a:ext cx="6295692" cy="205047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8FD0998-E0EC-EABA-5E90-634CEF58635F}"/>
              </a:ext>
            </a:extLst>
          </p:cNvPr>
          <p:cNvSpPr txBox="1"/>
          <p:nvPr/>
        </p:nvSpPr>
        <p:spPr>
          <a:xfrm>
            <a:off x="5004486" y="6210022"/>
            <a:ext cx="6529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T" dirty="0"/>
              <a:t>*Attrition Waste equals the Annual Salary (Monthly Income * 12) of attrited employees</a:t>
            </a:r>
          </a:p>
        </p:txBody>
      </p:sp>
      <p:pic>
        <p:nvPicPr>
          <p:cNvPr id="24" name="Picture 23" descr="A table with numbers and a few black text&#10;&#10;AI-generated content may be incorrect.">
            <a:extLst>
              <a:ext uri="{FF2B5EF4-FFF2-40B4-BE49-F238E27FC236}">
                <a16:creationId xmlns:a16="http://schemas.microsoft.com/office/drawing/2014/main" id="{E1FF69DE-8FC7-F898-3204-57A188317E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486" y="3743487"/>
            <a:ext cx="5824348" cy="21384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B0C150F-A84F-77B7-F04A-18E40BB93E19}"/>
              </a:ext>
            </a:extLst>
          </p:cNvPr>
          <p:cNvSpPr/>
          <p:nvPr/>
        </p:nvSpPr>
        <p:spPr>
          <a:xfrm>
            <a:off x="10500664" y="2333619"/>
            <a:ext cx="826325" cy="31469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24DF94-3286-61F3-3B56-37D05E02E807}"/>
              </a:ext>
            </a:extLst>
          </p:cNvPr>
          <p:cNvSpPr/>
          <p:nvPr/>
        </p:nvSpPr>
        <p:spPr>
          <a:xfrm>
            <a:off x="8669885" y="4507045"/>
            <a:ext cx="1044131" cy="65822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300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E033F-1343-A072-06E3-CAEED75FB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aph with numbers and a number of people&#10;&#10;AI-generated content may be incorrect.">
            <a:extLst>
              <a:ext uri="{FF2B5EF4-FFF2-40B4-BE49-F238E27FC236}">
                <a16:creationId xmlns:a16="http://schemas.microsoft.com/office/drawing/2014/main" id="{039B4977-EE7B-086E-3060-E5AA91EA4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486892"/>
            <a:ext cx="5170093" cy="4136074"/>
          </a:xfrm>
          <a:prstGeom prst="rect">
            <a:avLst/>
          </a:prstGeom>
        </p:spPr>
      </p:pic>
      <p:pic>
        <p:nvPicPr>
          <p:cNvPr id="4" name="Picture 3" descr="A graph of 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4BA482B4-6B72-3B84-7E1D-4F78A8E09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15" y="1344971"/>
            <a:ext cx="6188660" cy="49509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011778-EE4F-46AA-9558-0E31D75C0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/>
              <a:t>What is the cost of attrition?</a:t>
            </a:r>
            <a:endParaRPr lang="en-MT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819609-815C-5BF8-D22F-1071E00C75B1}"/>
              </a:ext>
            </a:extLst>
          </p:cNvPr>
          <p:cNvSpPr txBox="1"/>
          <p:nvPr/>
        </p:nvSpPr>
        <p:spPr>
          <a:xfrm>
            <a:off x="479411" y="5611269"/>
            <a:ext cx="6529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T" dirty="0"/>
              <a:t>Percent Values reflect the ratio of employees that left within each department</a:t>
            </a:r>
          </a:p>
        </p:txBody>
      </p:sp>
      <p:pic>
        <p:nvPicPr>
          <p:cNvPr id="6" name="Picture 5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FAC9DD1D-BE1B-CBAF-62C9-41D5E7017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0908" y="1232678"/>
            <a:ext cx="4312908" cy="2251338"/>
          </a:xfrm>
          <a:prstGeom prst="rect">
            <a:avLst/>
          </a:prstGeom>
        </p:spPr>
      </p:pic>
      <p:pic>
        <p:nvPicPr>
          <p:cNvPr id="15" name="Picture 14" descr="A table with numbers and a number of money&#10;&#10;AI-generated content may be incorrect.">
            <a:extLst>
              <a:ext uri="{FF2B5EF4-FFF2-40B4-BE49-F238E27FC236}">
                <a16:creationId xmlns:a16="http://schemas.microsoft.com/office/drawing/2014/main" id="{CF90B41D-F6B2-74F3-0EE9-534F3A0E9D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0908" y="3484016"/>
            <a:ext cx="3919927" cy="237378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149FCA-C050-BEE3-BD80-250D17EF0974}"/>
              </a:ext>
            </a:extLst>
          </p:cNvPr>
          <p:cNvCxnSpPr/>
          <p:nvPr/>
        </p:nvCxnSpPr>
        <p:spPr>
          <a:xfrm>
            <a:off x="2743200" y="1626919"/>
            <a:ext cx="0" cy="4376058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2DD1E82-D513-D5CD-7E80-2C57DB630A09}"/>
              </a:ext>
            </a:extLst>
          </p:cNvPr>
          <p:cNvSpPr/>
          <p:nvPr/>
        </p:nvSpPr>
        <p:spPr>
          <a:xfrm>
            <a:off x="8956605" y="4105109"/>
            <a:ext cx="959292" cy="61319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FC84E9-8BC8-39D6-F5AE-A96549054D95}"/>
              </a:ext>
            </a:extLst>
          </p:cNvPr>
          <p:cNvSpPr/>
          <p:nvPr/>
        </p:nvSpPr>
        <p:spPr>
          <a:xfrm>
            <a:off x="2541950" y="1830715"/>
            <a:ext cx="729702" cy="297879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791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8" grpId="0" animBg="1"/>
      <p:bldP spid="9" grpId="0" animBg="1"/>
      <p:bldP spid="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9F939-812C-EAF3-4BBE-9BF497266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 dirty="0"/>
              <a:t>Why do employees leave?</a:t>
            </a: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4FD8F4F2-B57C-9A75-4074-F7E0AB592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40000"/>
            <a:ext cx="7919852" cy="52799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1ED5CB0-8B02-F587-9DF4-FD3A08E1F37B}"/>
              </a:ext>
            </a:extLst>
          </p:cNvPr>
          <p:cNvSpPr/>
          <p:nvPr/>
        </p:nvSpPr>
        <p:spPr>
          <a:xfrm>
            <a:off x="1526878" y="2095995"/>
            <a:ext cx="6132706" cy="100940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360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C7D61-5491-94C9-1E3D-7872CB200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1C94-59F9-4623-BF2B-052DA0BBC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 dirty="0"/>
              <a:t>Why do employees leave?</a:t>
            </a:r>
          </a:p>
        </p:txBody>
      </p:sp>
      <p:pic>
        <p:nvPicPr>
          <p:cNvPr id="20" name="Content Placeholder 19" descr="A screenshot of a graph&#10;&#10;AI-generated content may be incorrect.">
            <a:extLst>
              <a:ext uri="{FF2B5EF4-FFF2-40B4-BE49-F238E27FC236}">
                <a16:creationId xmlns:a16="http://schemas.microsoft.com/office/drawing/2014/main" id="{545F3F97-2D5B-1511-5F1A-751D43880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800" y="1440000"/>
            <a:ext cx="7919853" cy="527990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D7DFE4-90E4-ABD8-CF47-4D57B0D91A87}"/>
              </a:ext>
            </a:extLst>
          </p:cNvPr>
          <p:cNvSpPr txBox="1"/>
          <p:nvPr/>
        </p:nvSpPr>
        <p:spPr>
          <a:xfrm>
            <a:off x="9002097" y="2095995"/>
            <a:ext cx="25951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T" dirty="0"/>
              <a:t>Entry and Junior level employees that leave tend to work overtime and have poor work life balance.</a:t>
            </a:r>
          </a:p>
          <a:p>
            <a:endParaRPr lang="en-MT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90F6BB-FF75-5E4D-093A-1D4E06914177}"/>
              </a:ext>
            </a:extLst>
          </p:cNvPr>
          <p:cNvSpPr/>
          <p:nvPr/>
        </p:nvSpPr>
        <p:spPr>
          <a:xfrm>
            <a:off x="1526878" y="2095995"/>
            <a:ext cx="6132706" cy="100940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0865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9629B-72D5-D2F7-9786-76896B215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92CDB-5205-2E3F-6DE1-0280113D0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 dirty="0"/>
              <a:t>Why do employees leave?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39DEA4-54E8-0C89-3426-232C06F15303}"/>
              </a:ext>
            </a:extLst>
          </p:cNvPr>
          <p:cNvSpPr txBox="1"/>
          <p:nvPr/>
        </p:nvSpPr>
        <p:spPr>
          <a:xfrm>
            <a:off x="8758800" y="1794224"/>
            <a:ext cx="29032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MT" dirty="0"/>
          </a:p>
          <a:p>
            <a:r>
              <a:rPr lang="en-MT" dirty="0"/>
              <a:t>Quality of Life indicators seem to be less important for Mid, Senior, and Excecutive employees.</a:t>
            </a:r>
          </a:p>
          <a:p>
            <a:endParaRPr lang="en-MT" dirty="0"/>
          </a:p>
        </p:txBody>
      </p:sp>
      <p:pic>
        <p:nvPicPr>
          <p:cNvPr id="17" name="Content Placeholder 16" descr="A screenshot of a graph&#10;&#10;AI-generated content may be incorrect.">
            <a:extLst>
              <a:ext uri="{FF2B5EF4-FFF2-40B4-BE49-F238E27FC236}">
                <a16:creationId xmlns:a16="http://schemas.microsoft.com/office/drawing/2014/main" id="{4C7FCA05-7F06-045B-5889-C2269E5F92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800" y="1440000"/>
            <a:ext cx="7920000" cy="52800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81F4A43-DF59-E77A-25B5-246EEE13A24B}"/>
              </a:ext>
            </a:extLst>
          </p:cNvPr>
          <p:cNvSpPr/>
          <p:nvPr/>
        </p:nvSpPr>
        <p:spPr>
          <a:xfrm>
            <a:off x="1526878" y="2095995"/>
            <a:ext cx="6132706" cy="100940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1694911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67530-B8CA-7CF4-CAB5-B7C7388CE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8541C-CF0B-5F48-9770-2D12B9485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8040" y="365125"/>
            <a:ext cx="4175760" cy="1325563"/>
          </a:xfrm>
        </p:spPr>
        <p:txBody>
          <a:bodyPr>
            <a:normAutofit fontScale="90000"/>
          </a:bodyPr>
          <a:lstStyle/>
          <a:p>
            <a:r>
              <a:rPr lang="en-MT" dirty="0"/>
              <a:t>Why do employees leave?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8010B8-84C7-DF60-3988-543A43C1768A}"/>
              </a:ext>
            </a:extLst>
          </p:cNvPr>
          <p:cNvSpPr txBox="1"/>
          <p:nvPr/>
        </p:nvSpPr>
        <p:spPr>
          <a:xfrm>
            <a:off x="205740" y="6057900"/>
            <a:ext cx="11148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T" dirty="0"/>
              <a:t>*Redsiduals were computed from a linear model. </a:t>
            </a:r>
          </a:p>
          <a:p>
            <a:r>
              <a:rPr lang="en-MT" dirty="0"/>
              <a:t>Expected income is a function of ”Department”, “Job Level”, and “Years Since Last Promotion”.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E5385D-AE47-DABA-D7DB-2FBFCF1A6BF7}"/>
              </a:ext>
            </a:extLst>
          </p:cNvPr>
          <p:cNvSpPr txBox="1"/>
          <p:nvPr/>
        </p:nvSpPr>
        <p:spPr>
          <a:xfrm>
            <a:off x="6389370" y="1931670"/>
            <a:ext cx="48348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accounting for residuals, the evidence suggests that income is a significant driver of attrition.</a:t>
            </a:r>
            <a:endParaRPr lang="en-MT" dirty="0"/>
          </a:p>
          <a:p>
            <a:endParaRPr lang="en-MT" dirty="0"/>
          </a:p>
          <a:p>
            <a:r>
              <a:rPr lang="en-MT" dirty="0">
                <a:solidFill>
                  <a:srgbClr val="C00000"/>
                </a:solidFill>
              </a:rPr>
              <a:t>Below Expected Income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T" dirty="0"/>
              <a:t>The Attrition rate is higher across all job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MT" dirty="0"/>
          </a:p>
          <a:p>
            <a:r>
              <a:rPr lang="en-MT" dirty="0">
                <a:solidFill>
                  <a:schemeClr val="accent3">
                    <a:lumMod val="75000"/>
                  </a:schemeClr>
                </a:solidFill>
              </a:rPr>
              <a:t>Above Expected Income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T" dirty="0"/>
              <a:t>Attrition rate is comparable to “Around Expected” for Entry and Junior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T" dirty="0"/>
              <a:t>Attrition rate is lower for Mid and Senior</a:t>
            </a:r>
          </a:p>
        </p:txBody>
      </p:sp>
      <p:pic>
        <p:nvPicPr>
          <p:cNvPr id="28" name="Content Placeholder 27" descr="A graph with numbers and a chart with numbers and a graph with numbers&#10;&#10;AI-generated content may be incorrect.">
            <a:extLst>
              <a:ext uri="{FF2B5EF4-FFF2-40B4-BE49-F238E27FC236}">
                <a16:creationId xmlns:a16="http://schemas.microsoft.com/office/drawing/2014/main" id="{53F52B10-A766-2789-F635-04AD26F322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0666" y="153768"/>
            <a:ext cx="5572661" cy="5572661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C42D22F-48A2-B3F6-9533-477D3DA44019}"/>
              </a:ext>
            </a:extLst>
          </p:cNvPr>
          <p:cNvSpPr txBox="1"/>
          <p:nvPr/>
        </p:nvSpPr>
        <p:spPr>
          <a:xfrm>
            <a:off x="3299593" y="1027906"/>
            <a:ext cx="1764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Below</a:t>
            </a:r>
            <a:r>
              <a:rPr lang="en-MT" dirty="0">
                <a:solidFill>
                  <a:srgbClr val="C00000"/>
                </a:solidFill>
              </a:rPr>
              <a:t> Expected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09E990-EE14-2294-69D2-5B6CD717F9B7}"/>
              </a:ext>
            </a:extLst>
          </p:cNvPr>
          <p:cNvSpPr txBox="1"/>
          <p:nvPr/>
        </p:nvSpPr>
        <p:spPr>
          <a:xfrm>
            <a:off x="3299593" y="492839"/>
            <a:ext cx="1764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3"/>
                </a:solidFill>
              </a:rPr>
              <a:t>A</a:t>
            </a:r>
            <a:r>
              <a:rPr lang="en-MT" dirty="0">
                <a:solidFill>
                  <a:schemeClr val="accent3"/>
                </a:solidFill>
              </a:rPr>
              <a:t>bove Expected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8371AD-0E22-7E0F-886D-B51C4A756D65}"/>
              </a:ext>
            </a:extLst>
          </p:cNvPr>
          <p:cNvSpPr/>
          <p:nvPr/>
        </p:nvSpPr>
        <p:spPr>
          <a:xfrm>
            <a:off x="1114674" y="3283527"/>
            <a:ext cx="1290080" cy="143477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BB0E02-C8F6-017E-00FD-5932E9A4A488}"/>
              </a:ext>
            </a:extLst>
          </p:cNvPr>
          <p:cNvSpPr/>
          <p:nvPr/>
        </p:nvSpPr>
        <p:spPr>
          <a:xfrm>
            <a:off x="2432070" y="3990109"/>
            <a:ext cx="2377436" cy="68060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1892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F776C-A7A6-BE7C-2050-F4A773DC1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3D680-79E8-20F9-8B7B-9954EEEB8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8040" y="365125"/>
            <a:ext cx="4175760" cy="1325563"/>
          </a:xfrm>
        </p:spPr>
        <p:txBody>
          <a:bodyPr>
            <a:normAutofit fontScale="90000"/>
          </a:bodyPr>
          <a:lstStyle/>
          <a:p>
            <a:r>
              <a:rPr lang="en-MT" dirty="0"/>
              <a:t>Why do employees leave?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7A130F-A3FB-1049-7433-FB82FE4253EA}"/>
              </a:ext>
            </a:extLst>
          </p:cNvPr>
          <p:cNvSpPr txBox="1"/>
          <p:nvPr/>
        </p:nvSpPr>
        <p:spPr>
          <a:xfrm>
            <a:off x="6389370" y="1931670"/>
            <a:ext cx="483489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T" dirty="0"/>
              <a:t>Stock options drive attrition in unexpected ways:</a:t>
            </a:r>
          </a:p>
          <a:p>
            <a:endParaRPr lang="en-MT" dirty="0"/>
          </a:p>
          <a:p>
            <a:r>
              <a:rPr lang="en-MT" dirty="0">
                <a:solidFill>
                  <a:srgbClr val="C00000"/>
                </a:solidFill>
              </a:rPr>
              <a:t>Low Stock Options: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</a:t>
            </a:r>
            <a:r>
              <a:rPr lang="en-MT" dirty="0"/>
              <a:t>rive attrtion across all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MT" dirty="0"/>
          </a:p>
          <a:p>
            <a:r>
              <a:rPr lang="en-MT" dirty="0"/>
              <a:t>Low and Medium Stock Options: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T" dirty="0"/>
              <a:t>Seems to moderate attriton</a:t>
            </a:r>
          </a:p>
          <a:p>
            <a:endParaRPr lang="en-MT" dirty="0"/>
          </a:p>
          <a:p>
            <a:r>
              <a:rPr lang="en-MT" dirty="0">
                <a:solidFill>
                  <a:schemeClr val="accent3">
                    <a:lumMod val="75000"/>
                  </a:schemeClr>
                </a:solidFill>
              </a:rPr>
              <a:t>High Stock Options: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T" dirty="0"/>
              <a:t>Unexpectadly seems to drive attrition, especially among senior level and highly paid entry level employees.</a:t>
            </a:r>
          </a:p>
          <a:p>
            <a:endParaRPr lang="en-MT" dirty="0"/>
          </a:p>
          <a:p>
            <a:endParaRPr lang="en-MT" dirty="0"/>
          </a:p>
          <a:p>
            <a:endParaRPr lang="en-MT" dirty="0"/>
          </a:p>
          <a:p>
            <a:endParaRPr lang="en-MT" dirty="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035D085A-A4B7-FFE6-09B6-783EA8D08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53768"/>
            <a:ext cx="6292752" cy="629275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A7410F8-F8DE-D84F-333E-318562FB6748}"/>
              </a:ext>
            </a:extLst>
          </p:cNvPr>
          <p:cNvSpPr/>
          <p:nvPr/>
        </p:nvSpPr>
        <p:spPr>
          <a:xfrm>
            <a:off x="1071424" y="540327"/>
            <a:ext cx="1184888" cy="203068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D9F068-2ECB-B8E1-1E59-65058E80BFFC}"/>
              </a:ext>
            </a:extLst>
          </p:cNvPr>
          <p:cNvSpPr/>
          <p:nvPr/>
        </p:nvSpPr>
        <p:spPr>
          <a:xfrm>
            <a:off x="4761838" y="540326"/>
            <a:ext cx="1184888" cy="203068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E822D0-EF11-C63D-DA9B-E8EA8CC2241F}"/>
              </a:ext>
            </a:extLst>
          </p:cNvPr>
          <p:cNvSpPr/>
          <p:nvPr/>
        </p:nvSpPr>
        <p:spPr>
          <a:xfrm>
            <a:off x="4803402" y="5052951"/>
            <a:ext cx="1184888" cy="66897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238CFF-28D8-9B9F-03D2-63BF042450F3}"/>
              </a:ext>
            </a:extLst>
          </p:cNvPr>
          <p:cNvSpPr txBox="1"/>
          <p:nvPr/>
        </p:nvSpPr>
        <p:spPr>
          <a:xfrm>
            <a:off x="4835726" y="6014852"/>
            <a:ext cx="1120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T" dirty="0"/>
              <a:t>3 out of 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93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DD850-EE99-BBA2-F138-9DA0AE81E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3EB47-32AE-2425-0E61-06CF943C9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 dirty="0"/>
              <a:t>Comparing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0D5928E-83F7-74D9-FF96-8227774DAA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MT" b="1" dirty="0"/>
                  <a:t>Na</a:t>
                </a:r>
                <a:r>
                  <a:rPr lang="en-GB" b="1" dirty="0" err="1"/>
                  <a:t>ï</a:t>
                </a:r>
                <a:r>
                  <a:rPr lang="en-MT" b="1" dirty="0"/>
                  <a:t>ve Bayes:</a:t>
                </a:r>
              </a:p>
              <a:p>
                <a:r>
                  <a:rPr lang="en-MT" dirty="0"/>
                  <a:t>Brute Force. All Features Used.</a:t>
                </a:r>
              </a:p>
              <a:p>
                <a:pPr marL="0" indent="0">
                  <a:buNone/>
                </a:pPr>
                <a:r>
                  <a:rPr lang="en-MT" b="1" dirty="0"/>
                  <a:t>K-NN</a:t>
                </a:r>
                <a:r>
                  <a:rPr lang="en-MT" dirty="0"/>
                  <a:t>:</a:t>
                </a:r>
              </a:p>
              <a:p>
                <a:r>
                  <a:rPr lang="en-MT" dirty="0"/>
                  <a:t>Pruned Features:</a:t>
                </a:r>
              </a:p>
              <a:p>
                <a:pPr lvl="1"/>
                <a:r>
                  <a:rPr lang="en-MT" dirty="0"/>
                  <a:t>Monthly Income, Job Role, Overtime, Work Life Balance, Stock Option Level, Years with Current Manager, Percent Salary Hike, Relationship Satisfaction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𝑡𝑟𝑎𝑖𝑛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𝑠𝑖𝑧𝑒</m:t>
                        </m:r>
                      </m:e>
                    </m:rad>
                  </m:oMath>
                </a14:m>
                <a:endParaRPr lang="en-MT" dirty="0"/>
              </a:p>
              <a:p>
                <a:r>
                  <a:rPr lang="en-MT" dirty="0"/>
                  <a:t>Group and Merge</a:t>
                </a:r>
              </a:p>
              <a:p>
                <a:r>
                  <a:rPr lang="en-MT" dirty="0"/>
                  <a:t>SMOTE Balancing</a:t>
                </a:r>
              </a:p>
              <a:p>
                <a:pPr marL="457200" lvl="1" indent="0">
                  <a:buNone/>
                </a:pPr>
                <a:endParaRPr lang="en-MT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0D5928E-83F7-74D9-FF96-8227774DAA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206" t="-3198" b="-2326"/>
                </a:stretch>
              </a:blipFill>
            </p:spPr>
            <p:txBody>
              <a:bodyPr/>
              <a:lstStyle/>
              <a:p>
                <a:r>
                  <a:rPr lang="en-MT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6001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D1661-104C-B659-5D38-E7626862F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 dirty="0"/>
              <a:t>Comparing Models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022E472-DF84-62F3-5B6B-770B2CFE8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T" b="1" dirty="0"/>
              <a:t>Metrics:</a:t>
            </a:r>
          </a:p>
          <a:p>
            <a:r>
              <a:rPr lang="en-MT" b="1" dirty="0"/>
              <a:t>Sensitivity</a:t>
            </a:r>
            <a:r>
              <a:rPr lang="en-MT" dirty="0"/>
              <a:t>: How accurate is the model at detecting who is leaving?</a:t>
            </a:r>
          </a:p>
          <a:p>
            <a:r>
              <a:rPr lang="en-MT" b="1" dirty="0"/>
              <a:t>Speceficity: </a:t>
            </a:r>
            <a:r>
              <a:rPr lang="en-MT" dirty="0"/>
              <a:t>How accurate is the model at detecting who is staying?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8279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F32EE-B5BB-7018-D8DB-48EDCCC58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 dirty="0"/>
              <a:t>Evaluation</a:t>
            </a:r>
          </a:p>
        </p:txBody>
      </p:sp>
      <p:pic>
        <p:nvPicPr>
          <p:cNvPr id="16" name="Content Placeholder 15" descr="A screenshot of a graph&#10;&#10;AI-generated content may be incorrect.">
            <a:extLst>
              <a:ext uri="{FF2B5EF4-FFF2-40B4-BE49-F238E27FC236}">
                <a16:creationId xmlns:a16="http://schemas.microsoft.com/office/drawing/2014/main" id="{C851AF64-1930-9DA8-B3BF-2DADA6A4DC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4138" y="1435308"/>
            <a:ext cx="10351008" cy="5175504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EB87B23-F431-6704-0ED3-F9D269E65B32}"/>
              </a:ext>
            </a:extLst>
          </p:cNvPr>
          <p:cNvSpPr/>
          <p:nvPr/>
        </p:nvSpPr>
        <p:spPr>
          <a:xfrm>
            <a:off x="3440552" y="4079173"/>
            <a:ext cx="1428332" cy="43938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E75FE-A1B5-FC4C-6DC1-7616B41DF71C}"/>
              </a:ext>
            </a:extLst>
          </p:cNvPr>
          <p:cNvSpPr/>
          <p:nvPr/>
        </p:nvSpPr>
        <p:spPr>
          <a:xfrm>
            <a:off x="7119924" y="3803366"/>
            <a:ext cx="777167" cy="43938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193957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2" animBg="1"/>
      <p:bldP spid="4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CBEDB-E249-3623-5D39-0161DD46F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C810A3B1-66F6-9EC8-BC88-7339A8E74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133" y="2160000"/>
            <a:ext cx="4320000" cy="4320000"/>
          </a:xfrm>
          <a:prstGeom prst="rect">
            <a:avLst/>
          </a:prstGeom>
        </p:spPr>
      </p:pic>
      <p:pic>
        <p:nvPicPr>
          <p:cNvPr id="5" name="Picture 4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924B5464-2575-5B0B-6EDA-8EC1C5EC14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6210" y="2160000"/>
            <a:ext cx="4320000" cy="432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7169EE-DCA5-6DE1-C915-5BFB6D579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 dirty="0"/>
              <a:t>Evaluation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79FA52-EC41-C328-B943-F4B3D452C0E5}"/>
              </a:ext>
            </a:extLst>
          </p:cNvPr>
          <p:cNvSpPr txBox="1"/>
          <p:nvPr/>
        </p:nvSpPr>
        <p:spPr>
          <a:xfrm>
            <a:off x="2180897" y="1547657"/>
            <a:ext cx="2427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T" sz="2800" dirty="0"/>
              <a:t>Na</a:t>
            </a:r>
            <a:r>
              <a:rPr lang="en-GB" sz="2800" dirty="0" err="1"/>
              <a:t>ï</a:t>
            </a:r>
            <a:r>
              <a:rPr lang="en-MT" sz="2800" dirty="0"/>
              <a:t>ve Bayes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8559E2-1AED-E6B2-F688-6745D2A3C216}"/>
              </a:ext>
            </a:extLst>
          </p:cNvPr>
          <p:cNvSpPr txBox="1"/>
          <p:nvPr/>
        </p:nvSpPr>
        <p:spPr>
          <a:xfrm>
            <a:off x="8448646" y="1599022"/>
            <a:ext cx="1099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T" sz="2800" dirty="0"/>
              <a:t>K-NN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66E595-5419-8A25-F1FE-7D944575C967}"/>
              </a:ext>
            </a:extLst>
          </p:cNvPr>
          <p:cNvSpPr/>
          <p:nvPr/>
        </p:nvSpPr>
        <p:spPr>
          <a:xfrm>
            <a:off x="2231754" y="4085112"/>
            <a:ext cx="3385275" cy="111627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4F8FC5-C9B7-B473-2F15-8A197D64331C}"/>
              </a:ext>
            </a:extLst>
          </p:cNvPr>
          <p:cNvSpPr/>
          <p:nvPr/>
        </p:nvSpPr>
        <p:spPr>
          <a:xfrm>
            <a:off x="4447310" y="2354470"/>
            <a:ext cx="1169720" cy="290450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15AA94-5D08-78D7-9B88-5540B11D6D5A}"/>
              </a:ext>
            </a:extLst>
          </p:cNvPr>
          <p:cNvSpPr/>
          <p:nvPr/>
        </p:nvSpPr>
        <p:spPr>
          <a:xfrm>
            <a:off x="7496481" y="4085111"/>
            <a:ext cx="3385275" cy="111627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906D75-8839-B502-7EE2-8D2A8D8DE0BF}"/>
              </a:ext>
            </a:extLst>
          </p:cNvPr>
          <p:cNvSpPr/>
          <p:nvPr/>
        </p:nvSpPr>
        <p:spPr>
          <a:xfrm>
            <a:off x="9712036" y="2354470"/>
            <a:ext cx="1169720" cy="290450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336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0" grpId="0" animBg="1"/>
      <p:bldP spid="10" grpId="0" animBg="1"/>
      <p:bldP spid="10" grpId="1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99A2-8D4F-27F9-187E-A053D5569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 dirty="0"/>
              <a:t>Evaluation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80B01D-8A20-244C-3900-B7B86B6F12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MT" b="1" dirty="0"/>
                  <a:t>Attrition Cost: </a:t>
                </a:r>
                <a:r>
                  <a:rPr lang="en-MT" dirty="0"/>
                  <a:t>Annual Salary</a:t>
                </a:r>
              </a:p>
              <a:p>
                <a:pPr marL="0" indent="0">
                  <a:buNone/>
                </a:pPr>
                <a:r>
                  <a:rPr lang="en-MT" b="1" dirty="0"/>
                  <a:t>Intervention Cost:  </a:t>
                </a:r>
                <a:r>
                  <a:rPr lang="en-MT" dirty="0"/>
                  <a:t>Quarterly Salary</a:t>
                </a:r>
                <a:endParaRPr lang="en-MT" b="1" dirty="0"/>
              </a:p>
              <a:p>
                <a:pPr marL="0" indent="0">
                  <a:buNone/>
                </a:pPr>
                <a:endParaRPr lang="en-MT" b="1" dirty="0"/>
              </a:p>
              <a:p>
                <a:pPr marL="0" indent="0">
                  <a:buNone/>
                </a:pPr>
                <a:r>
                  <a:rPr lang="en-MT" b="1" dirty="0"/>
                  <a:t>Cost Impact:</a:t>
                </a:r>
              </a:p>
              <a:p>
                <a:r>
                  <a:rPr lang="en-GB" b="1" dirty="0"/>
                  <a:t>Total Intervention Cost: </a:t>
                </a:r>
                <a:r>
                  <a:rPr lang="en-GB" dirty="0"/>
                  <a:t>The investment required to prevent attrition.</a:t>
                </a:r>
              </a:p>
              <a:p>
                <a:r>
                  <a:rPr lang="en-GB" b="1" dirty="0"/>
                  <a:t>Cost of No Action </a:t>
                </a:r>
                <a:r>
                  <a:rPr lang="en-GB" dirty="0"/>
                  <a:t>: The estimated loss if no intervention is applied.</a:t>
                </a:r>
              </a:p>
              <a:p>
                <a:r>
                  <a:rPr lang="en-GB" b="1" dirty="0"/>
                  <a:t>Unrealized Attrition Loss : </a:t>
                </a:r>
                <a:r>
                  <a:rPr lang="en-GB" dirty="0"/>
                  <a:t>The recoverable loss from correctly predicted attrition cases.</a:t>
                </a:r>
              </a:p>
              <a:p>
                <a:r>
                  <a:rPr lang="en-GB" b="1" dirty="0"/>
                  <a:t>Realized Attrition Loss : </a:t>
                </a:r>
                <a:r>
                  <a:rPr lang="en-GB" dirty="0"/>
                  <a:t>The loss from employees who left but were not predicted to do so.</a:t>
                </a:r>
              </a:p>
              <a:p>
                <a:r>
                  <a:rPr lang="en-GB" b="1" dirty="0"/>
                  <a:t> Potential Net Benefit </a:t>
                </a:r>
                <a:r>
                  <a:rPr lang="en-GB" dirty="0"/>
                  <a:t>: The net gain if all predicted employees are successfully retained.</a:t>
                </a:r>
              </a:p>
              <a:p>
                <a:pPr marL="0" indent="0" algn="ctr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𝐴𝑐𝑡𝑖𝑜𝑛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𝐼𝑛𝑡𝑒𝑟𝑣𝑒𝑛𝑡𝑖𝑜𝑛</m:t>
                        </m:r>
                      </m:sub>
                    </m:sSub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𝑅𝑒𝑎𝑙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𝑈𝑛𝑟𝑒𝑎𝑙</m:t>
                        </m:r>
                      </m:sub>
                    </m:sSub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𝑃𝑜𝑡𝑒𝑛𝑡𝑖𝑎𝑙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𝑁𝑒𝑡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𝐵𝑒𝑛𝑒𝑓𝑖𝑡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𝑁𝑜𝐴𝑐𝑡𝑖𝑜𝑛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𝐴𝑐𝑡𝑖𝑜𝑛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80B01D-8A20-244C-3900-B7B86B6F12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03" t="-2326"/>
                </a:stretch>
              </a:blipFill>
            </p:spPr>
            <p:txBody>
              <a:bodyPr/>
              <a:lstStyle/>
              <a:p>
                <a:r>
                  <a:rPr lang="en-MT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22161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FF384-9FB8-BFFA-36AB-CB0370457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DC4C7-547F-951B-EDA0-AA2C98173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 dirty="0"/>
              <a:t>Evaluation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4A3076-C301-0205-3531-E2C366AB5FE4}"/>
              </a:ext>
            </a:extLst>
          </p:cNvPr>
          <p:cNvSpPr txBox="1"/>
          <p:nvPr/>
        </p:nvSpPr>
        <p:spPr>
          <a:xfrm>
            <a:off x="2878321" y="1303811"/>
            <a:ext cx="2427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T" sz="2800" dirty="0"/>
              <a:t>Na</a:t>
            </a:r>
            <a:r>
              <a:rPr lang="en-GB" sz="2800" dirty="0" err="1"/>
              <a:t>ï</a:t>
            </a:r>
            <a:r>
              <a:rPr lang="en-MT" sz="2800" dirty="0"/>
              <a:t>ve Bayes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B87CB5-8623-62D5-8CAF-5F627362B4C9}"/>
              </a:ext>
            </a:extLst>
          </p:cNvPr>
          <p:cNvSpPr txBox="1"/>
          <p:nvPr/>
        </p:nvSpPr>
        <p:spPr>
          <a:xfrm>
            <a:off x="7780448" y="1314607"/>
            <a:ext cx="1099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T" sz="2800" dirty="0"/>
              <a:t>K-NN</a:t>
            </a: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A37F4318-66A6-A93A-15AF-1F2934BFA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820" y="1802972"/>
            <a:ext cx="3783899" cy="4689903"/>
          </a:xfrm>
          <a:prstGeom prst="rect">
            <a:avLst/>
          </a:prstGeo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5E532E1A-D9E9-DF2F-BD82-5CA80836A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281" y="1802972"/>
            <a:ext cx="3783899" cy="46899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B7088CE-BEA8-7602-EC87-1E9F700B698D}"/>
              </a:ext>
            </a:extLst>
          </p:cNvPr>
          <p:cNvSpPr/>
          <p:nvPr/>
        </p:nvSpPr>
        <p:spPr>
          <a:xfrm>
            <a:off x="4721351" y="2285999"/>
            <a:ext cx="960992" cy="205264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BF0C8F-8478-91E9-AC76-BB19F1057E7C}"/>
              </a:ext>
            </a:extLst>
          </p:cNvPr>
          <p:cNvSpPr/>
          <p:nvPr/>
        </p:nvSpPr>
        <p:spPr>
          <a:xfrm>
            <a:off x="9273188" y="2285998"/>
            <a:ext cx="960992" cy="205264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AD575B-5E7F-FD6C-32AC-D1FBAB3E163D}"/>
              </a:ext>
            </a:extLst>
          </p:cNvPr>
          <p:cNvSpPr/>
          <p:nvPr/>
        </p:nvSpPr>
        <p:spPr>
          <a:xfrm>
            <a:off x="4321467" y="4389437"/>
            <a:ext cx="1360875" cy="205264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1DDFCF-433A-2470-7A04-4144A3A2D514}"/>
              </a:ext>
            </a:extLst>
          </p:cNvPr>
          <p:cNvSpPr/>
          <p:nvPr/>
        </p:nvSpPr>
        <p:spPr>
          <a:xfrm>
            <a:off x="8796485" y="4338639"/>
            <a:ext cx="1360875" cy="205264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6190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D78D6-6B71-FA9B-BF57-485AE9D5F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 dirty="0"/>
              <a:t>Closing 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350FA-598D-E305-CFCB-F5EFB1EF2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Naïve Bayes provided the most reliable predictions overall.</a:t>
            </a:r>
          </a:p>
          <a:p>
            <a:r>
              <a:rPr lang="en-GB" dirty="0"/>
              <a:t>K-NN performed slightly better for certain higher-income groups, but results were less consistent.</a:t>
            </a:r>
          </a:p>
          <a:p>
            <a:r>
              <a:rPr lang="en-GB" dirty="0"/>
              <a:t>A simple model like Naïve Bayes is easier to maintain as data changes next year.</a:t>
            </a:r>
          </a:p>
          <a:p>
            <a:r>
              <a:rPr lang="en-GB" dirty="0"/>
              <a:t>Interventions should focus on improving work-life balance and monitoring high-overtime roles.</a:t>
            </a:r>
          </a:p>
          <a:p>
            <a:r>
              <a:rPr lang="en-GB" dirty="0" err="1"/>
              <a:t>JobRole</a:t>
            </a:r>
            <a:r>
              <a:rPr lang="en-GB" dirty="0"/>
              <a:t>, </a:t>
            </a:r>
            <a:r>
              <a:rPr lang="en-GB" dirty="0" err="1"/>
              <a:t>WorkLifeBalance</a:t>
            </a:r>
            <a:r>
              <a:rPr lang="en-GB" dirty="0"/>
              <a:t>, </a:t>
            </a:r>
            <a:r>
              <a:rPr lang="en-GB" dirty="0" err="1"/>
              <a:t>OverTime</a:t>
            </a:r>
            <a:r>
              <a:rPr lang="en-GB" dirty="0"/>
              <a:t>, and </a:t>
            </a:r>
            <a:r>
              <a:rPr lang="en-GB" dirty="0" err="1"/>
              <a:t>MonthlyIncome</a:t>
            </a:r>
            <a:r>
              <a:rPr lang="en-GB" dirty="0"/>
              <a:t> were the strongest predictors of attrition</a:t>
            </a:r>
          </a:p>
          <a:p>
            <a:r>
              <a:rPr lang="en-GB" dirty="0"/>
              <a:t>Continued tracking and re-training will help ensure model accuracy over time.</a:t>
            </a:r>
          </a:p>
        </p:txBody>
      </p:sp>
    </p:spTree>
    <p:extLst>
      <p:ext uri="{BB962C8B-B14F-4D97-AF65-F5344CB8AC3E}">
        <p14:creationId xmlns:p14="http://schemas.microsoft.com/office/powerpoint/2010/main" val="373391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7|5.9|5.5|4.5|1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|6.9|1.7|7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8|1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9|8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2|11|0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5|9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9.1|6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|8.1|15.6|1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|8.1|15.6|11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1|5.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|7.6|8.6|9.9|9.1|6.1|12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5|7.4|20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4953</TotalTime>
  <Words>605</Words>
  <Application>Microsoft Macintosh PowerPoint</Application>
  <PresentationFormat>Widescreen</PresentationFormat>
  <Paragraphs>97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Office Theme</vt:lpstr>
      <vt:lpstr>Attrition at Frito-Lay</vt:lpstr>
      <vt:lpstr>Goals</vt:lpstr>
      <vt:lpstr>What is the cost of attrition?</vt:lpstr>
      <vt:lpstr>What is the cost of attrition?</vt:lpstr>
      <vt:lpstr>What is the cost of attrition?</vt:lpstr>
      <vt:lpstr>Why do employees leave?</vt:lpstr>
      <vt:lpstr>Why do employees leave?</vt:lpstr>
      <vt:lpstr>Why do employees leave?</vt:lpstr>
      <vt:lpstr>Why do employees leave?</vt:lpstr>
      <vt:lpstr>Why do employees leave?</vt:lpstr>
      <vt:lpstr>Comparing Models</vt:lpstr>
      <vt:lpstr>Comparing Models</vt:lpstr>
      <vt:lpstr>Evaluation</vt:lpstr>
      <vt:lpstr>Evaluation</vt:lpstr>
      <vt:lpstr>Evaluation</vt:lpstr>
      <vt:lpstr>Evaluation</vt:lpstr>
      <vt:lpstr>Closing Remarks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Wolfgang Klein</dc:creator>
  <cp:lastModifiedBy>Wolfgang Klein</cp:lastModifiedBy>
  <cp:revision>38</cp:revision>
  <dcterms:created xsi:type="dcterms:W3CDTF">2025-10-21T07:11:41Z</dcterms:created>
  <dcterms:modified xsi:type="dcterms:W3CDTF">2025-10-26T09:17:33Z</dcterms:modified>
</cp:coreProperties>
</file>